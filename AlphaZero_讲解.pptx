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0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AlphaZero 围棋AI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原理与代码详解</a:t>
            </a:r>
            <a:r>
              <a:rPr lang="zh-CN" altLang="en-US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altLang="zh-CN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zh-CN" altLang="en-US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开源地址：</a:t>
            </a:r>
            <a:r>
              <a:rPr lang="en-US" altLang="zh-CN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https://github.com/Xjc20/xjtugo</a:t>
            </a:r>
            <a:r>
              <a:rPr lang="zh-CN" altLang="en-US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2860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西安交通大学 电气工程学院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围棋 | MCTS + 深度神经网络 | 自我对弈强化学习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90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7B61FF">
              <a:alpha val="15000"/>
            </a:srgbClr>
          </a:solidFill>
          <a:ln w="12700">
            <a:solidFill>
              <a:srgbClr val="7B61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AlphaGo vs AlphaZero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需要人类棋谱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策略网络 + 价值网络（分开训练）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MCTS + Rollout（随机模拟到终局）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三个版本迭代（Fan → Lee → Master）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训练需数月 + 大量计算资源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AlphaZero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零人类知识，纯自我对弈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策略 + 价值 统一网络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MCTS + 神经网络评估（无 Rollout）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一个版本通吃（围棋/象棋/将棋）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训练仅数小时到数天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2743200"/>
            <a:ext cx="731520" cy="731520"/>
          </a:xfrm>
          <a:prstGeom prst="ellipse">
            <a:avLst/>
          </a:prstGeom>
          <a:solidFill>
            <a:srgbClr val="FF6B6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核心进步：从「依赖人类经验」到「从零自我学习」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AlphaZero 三大核心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783080"/>
            <a:ext cx="914400" cy="9144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自我对弈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AI与自己下棋，无需人类棋谱。通过胜负结果自动学习，策略越下越强。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783080"/>
            <a:ext cx="914400" cy="91440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深度神经网络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统一网络同时输出策略（下一步在哪）和价值（局面谁优），替代传统Rollout。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783080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MCTS搜索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蒙特卡洛树搜索，结合神经网络先验概率做PUCT选择，800次模拟找到最优走法。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自我对弈生成数据  →  训练神经网络  →  更强的MCTS搜索  →  更好的自我对弈  →  循环提升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网络结构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AlphaZero 神经网络架构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188720" cy="256032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1097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4通道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5×5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</a:rPr>
              <a:t>━━━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Ch0:我方棋子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Ch1:对方棋子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Ch2:上一步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Ch3:先手标志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3108960"/>
            <a:ext cx="32004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2011680"/>
            <a:ext cx="1280160" cy="219456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输入卷积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2423160"/>
            <a:ext cx="109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Conv2d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4→64, k=3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BatchNorm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ReLU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108960"/>
            <a:ext cx="32004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645920"/>
            <a:ext cx="1463040" cy="2926080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残差塔 ×4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148840"/>
            <a:ext cx="1280160" cy="457200"/>
          </a:xfrm>
          <a:prstGeom prst="rect">
            <a:avLst/>
          </a:prstGeom>
          <a:solidFill>
            <a:srgbClr val="DDD6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ResBlock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2697480"/>
            <a:ext cx="1280160" cy="457200"/>
          </a:xfrm>
          <a:prstGeom prst="rect">
            <a:avLst/>
          </a:prstGeom>
          <a:solidFill>
            <a:srgbClr val="DDD6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ResBlock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3246120"/>
            <a:ext cx="1280160" cy="457200"/>
          </a:xfrm>
          <a:prstGeom prst="rect">
            <a:avLst/>
          </a:prstGeom>
          <a:solidFill>
            <a:srgbClr val="DDD6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ResBlock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3794760"/>
            <a:ext cx="1280160" cy="457200"/>
          </a:xfrm>
          <a:prstGeom prst="rect">
            <a:avLst/>
          </a:prstGeom>
          <a:solidFill>
            <a:srgbClr val="DDD6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ResBlock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66360" y="2560320"/>
            <a:ext cx="3657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2560320"/>
            <a:ext cx="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2103120"/>
            <a:ext cx="3657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66360" y="3474720"/>
            <a:ext cx="36576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3474720"/>
            <a:ext cx="0" cy="4572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3931920"/>
            <a:ext cx="36576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371600"/>
            <a:ext cx="1463040" cy="182880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17830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Conv2d(64→2)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BN → ReLU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Flatten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Linear(50→26)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LogSoftmax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383280"/>
            <a:ext cx="1463040" cy="182880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价值头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89320" y="3794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Conv2d(64→1)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BN → ReLU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Flatten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Linear(25→64)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ReLU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Linear(64→1)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Tanh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1554480"/>
            <a:ext cx="1280160" cy="6400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26维概率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25位置+PASS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3840480"/>
            <a:ext cx="1280160" cy="64008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3840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标量 ∈ [-1,1]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局面胜负评估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1874520"/>
            <a:ext cx="18288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4160520"/>
            <a:ext cx="182880" cy="0"/>
          </a:xfrm>
          <a:prstGeom prst="line">
            <a:avLst/>
          </a:prstGeom>
          <a:noFill/>
          <a:ln w="25400">
            <a:solidFill>
              <a:srgbClr val="991B1B"/>
            </a:solidFill>
            <a:prstDash val="solid"/>
          </a:ln>
        </p:spPr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4118B632-50DD-7EAC-7C88-A411988A1550}"/>
              </a:ext>
            </a:extLst>
          </p:cNvPr>
          <p:cNvSpPr/>
          <p:nvPr/>
        </p:nvSpPr>
        <p:spPr>
          <a:xfrm>
            <a:off x="5532120" y="2103120"/>
            <a:ext cx="0" cy="45720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输入编码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棋盘状态编码 (4, 5, 5)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965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通道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132588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当前玩家棋子位置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有子=1，无子=0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5544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554480"/>
            <a:ext cx="19659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通道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103120"/>
            <a:ext cx="132588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3108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对手棋子位置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有子=1，无子=0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554480"/>
            <a:ext cx="19659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通道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2103120"/>
            <a:ext cx="13258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108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对手最近一步位置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只有一个1，其余0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15544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55448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通道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2103120"/>
            <a:ext cx="132588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3108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黑棋=全1矩阵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白棋=全0矩阵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encode_board(go, piece_type)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state[0] = (board == piece_type)        # 我方棋子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state[1] = (board == opponent)           # 对方棋子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state[2, x, y] = 1.0                    # 对手上一步位置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state[3] = np.ones((5,5)) if 黑棋 else 0 # 先手标志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94598" y="16002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Residual Block 内部结构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822960"/>
            <a:ext cx="1280160" cy="54864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822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137160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00200"/>
            <a:ext cx="1463040" cy="50292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Conv2d(64,64,k=3)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2103120"/>
            <a:ext cx="0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240280"/>
            <a:ext cx="1463040" cy="4114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→ ReLU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2651760"/>
            <a:ext cx="0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788920"/>
            <a:ext cx="1463040" cy="50292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Conv2d(64,64,k=3)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3291840"/>
            <a:ext cx="0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429000"/>
            <a:ext cx="1463040" cy="4114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1097280"/>
            <a:ext cx="82296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91840" y="1097280"/>
            <a:ext cx="0" cy="283464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468880" y="3931920"/>
            <a:ext cx="82296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200400" y="2103121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3840480"/>
            <a:ext cx="0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977640"/>
            <a:ext cx="1828800" cy="45720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(Add) → ReLU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37360" y="4434840"/>
            <a:ext cx="0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4572000"/>
            <a:ext cx="1280160" cy="45720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97280" y="4572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x'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0" y="1554480"/>
            <a:ext cx="47548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9768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为什么需要残差连接？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97680" y="21488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问题：深层网络梯度消失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网络越深，反向传播时梯度越小，前面的层学不到东西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</a:rPr>
              <a:t>解决：Skip Connection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输出 = F(x) + x，梯度可以直接跳回前面的层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</a:rPr>
              <a:t>本项目参数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4个残差块 × 64通道 × 3×3卷积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总参数量约 30万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蒙特卡洛树搜索 (MCTS) 四阶段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0116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选择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463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从根节点出发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用PUCT公式选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最有潜力的子节点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向下遍历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3063240"/>
            <a:ext cx="228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630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63040"/>
            <a:ext cx="20116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展开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1463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97480" y="21031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到达叶节点后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添加新的子节点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神经网络给出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先验概率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063240"/>
            <a:ext cx="228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4630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463040"/>
            <a:ext cx="201168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评估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9320" y="1463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1031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神经网络直接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评估局面价值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无需随机Rollout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一次推理即可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3063240"/>
            <a:ext cx="228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14630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40880" y="1463040"/>
            <a:ext cx="20116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回传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1463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21031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沿搜索路径向上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更新访问次数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和价值总和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每层取负翻转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重复以上4步 800 次，统计根节点各子节点的访问次数，选访问最多的动作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PUCT 选择公式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Score(s, a) = Q(s,a) + c_puct × P(a|s) × √N(s) / (1 + N(s,a))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利用项（Exploit）                              探索项（Explore）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1600200" cy="2103120"/>
          </a:xfrm>
          <a:prstGeom prst="rect">
            <a:avLst/>
          </a:prstGeom>
          <a:solidFill>
            <a:srgbClr val="1A2744"/>
          </a:solidFill>
          <a:ln w="1905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Q(s,a)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154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动作平均价值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value_sum / visits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已访问结果的好坏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2651760"/>
            <a:ext cx="1600200" cy="2103120"/>
          </a:xfrm>
          <a:prstGeom prst="rect">
            <a:avLst/>
          </a:prstGeom>
          <a:solidFill>
            <a:srgbClr val="1A2744"/>
          </a:solidFill>
          <a:ln w="19050">
            <a:solidFill>
              <a:srgbClr val="00D4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P(a|s)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57400" y="3154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神经网络先验概率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3520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策略头输出的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动作概率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2651760"/>
            <a:ext cx="1600200" cy="2103120"/>
          </a:xfrm>
          <a:prstGeom prst="rect">
            <a:avLst/>
          </a:prstGeom>
          <a:solidFill>
            <a:srgbClr val="1A2744"/>
          </a:solidFill>
          <a:ln w="19050">
            <a:solidFill>
              <a:srgbClr val="7B61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154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父节点访问次数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3520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总访问越多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探索奖励越高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2651760"/>
            <a:ext cx="1600200" cy="2103120"/>
          </a:xfrm>
          <a:prstGeom prst="rect">
            <a:avLst/>
          </a:prstGeom>
          <a:solidFill>
            <a:srgbClr val="1A2744"/>
          </a:solidFill>
          <a:ln w="19050">
            <a:solidFill>
              <a:srgbClr val="FF6B6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N(s,a)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154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该动作访问次数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3520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访问越少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越值得探索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651760"/>
            <a:ext cx="1600200" cy="2103120"/>
          </a:xfrm>
          <a:prstGeom prst="rect">
            <a:avLst/>
          </a:prstGeom>
          <a:solidFill>
            <a:srgbClr val="1A2744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0664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c_puct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3154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探索系数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3520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1.5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平衡利用与探索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协同工作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MCTS 如何与神经网络搭配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463040"/>
            <a:ext cx="2743200" cy="548640"/>
          </a:xfrm>
          <a:prstGeom prst="rect">
            <a:avLst/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当前棋盘局面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0" cy="18288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2194560"/>
            <a:ext cx="4023360" cy="64008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神经网络评估  network.predict()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834640"/>
            <a:ext cx="0" cy="22860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834640"/>
            <a:ext cx="0" cy="2286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3063240"/>
            <a:ext cx="2560320" cy="502920"/>
          </a:xfrm>
          <a:prstGeom prst="rect">
            <a:avLst/>
          </a:prstGeom>
          <a:solidFill>
            <a:srgbClr val="16653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 policy (26维)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063240"/>
            <a:ext cx="2560320" cy="502920"/>
          </a:xfrm>
          <a:prstGeom prst="rect">
            <a:avLst/>
          </a:prstGeom>
          <a:solidFill>
            <a:srgbClr val="991B1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 value (标量)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3566160"/>
            <a:ext cx="0" cy="18288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566160"/>
            <a:ext cx="0" cy="18288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PUCT先验概率P(a|s)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回传价值 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3840480"/>
            <a:ext cx="4572000" cy="54864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搜索 (800次模拟)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4389120"/>
            <a:ext cx="0" cy="18288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572000"/>
            <a:ext cx="3657600" cy="45720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选访问次数最多的动作执行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策略引导搜索方向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（不走明显差的路）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价值替代Rollout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（一次推理 = 一次终局模拟）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AlphaZero vs AlphaGo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371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零人类知识，统一网络，无Rollout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神经网络双头输出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057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策略头(26维概率) + 价值头(胜负估计)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73152" cy="5029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残差连接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4个ResBlock解决梯度消失，提取深层特征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73152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+ PUCT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429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神经网络先验引导搜索，800次模拟选最优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731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正反馈循环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4114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自我对弈→训练网络→更强搜索→更好数据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22860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西安交通大学 电气工程学院 | xjc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689</Words>
  <Application>Microsoft Office PowerPoint</Application>
  <PresentationFormat>全屏显示(16:9)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AlphaZero 围棋AI 原理讲解</dc:title>
  <dc:subject>PptxGenJS Presentation</dc:subject>
  <dc:creator>xjc</dc:creator>
  <cp:lastModifiedBy>jc xiao</cp:lastModifiedBy>
  <cp:revision>5</cp:revision>
  <dcterms:created xsi:type="dcterms:W3CDTF">2026-04-08T10:37:05Z</dcterms:created>
  <dcterms:modified xsi:type="dcterms:W3CDTF">2026-04-08T13:00:09Z</dcterms:modified>
</cp:coreProperties>
</file>